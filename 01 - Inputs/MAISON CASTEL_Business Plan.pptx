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70" r:id="rId4"/>
    <p:sldId id="271"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2AB6"/>
    <a:srgbClr val="FBCF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82" d="100"/>
          <a:sy n="82" d="100"/>
        </p:scale>
        <p:origin x="672"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3/23/2026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‹N°›</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Votre nom, statut (créateur, gérant), date.</a:t>
            </a:r>
          </a:p>
          <a:p>
            <a:r>
              <a:rPr lang="en-US" altLang="en-US"/>
              <a:t>Montant de financement demandé, durée souhaitée </a:t>
            </a:r>
          </a:p>
          <a:p>
            <a:r>
              <a:rPr lang="en-US" altLang="en-US"/>
              <a:t>(ex : « Demande de financement : 180 k€ sur 7 ans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Toujours joindre en annexe le prévisionnel Excel complet (CR, bilan, trésorerie, plan de financement).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Castelmaurou</a:t>
            </a:r>
            <a:r>
              <a:rPr lang="fr-FR" altLang="en-US"/>
              <a:t> (31180)</a:t>
            </a:r>
            <a:r>
              <a:rPr lang="en-US" altLang="en-US"/>
              <a:t> est une commune urbaine qui compte 4 524 habitants en 2023</a:t>
            </a:r>
            <a:r>
              <a:rPr lang="fr-FR" altLang="en-US"/>
              <a:t> (population constamment en hausse depuis</a:t>
            </a:r>
            <a:r>
              <a:rPr lang="en-US" altLang="en-US"/>
              <a:t> 1975</a:t>
            </a:r>
            <a:r>
              <a:rPr lang="fr-FR" altLang="en-US"/>
              <a:t>) avec une densité de 270 hab au Km² ( ce qui induit un concentration residentiellel intéressante pour des commerces de proximité). 78% des 15-64 ans sont en activité ( taux de chomage &lt;6%); ce qui indique un pouvoir d’achat pottentiel et une population qui peut consommer des « services plaisirs»</a:t>
            </a:r>
          </a:p>
          <a:p>
            <a:endParaRPr lang="fr-FR" altLang="en-US"/>
          </a:p>
          <a:p>
            <a:r>
              <a:rPr lang="en-US" altLang="en-US"/>
              <a:t>Elle appartient à l'unité urbaine de Toulouse </a:t>
            </a:r>
            <a:r>
              <a:rPr lang="fr-FR" altLang="en-US">
                <a:sym typeface="+mn-ea"/>
              </a:rPr>
              <a:t>(</a:t>
            </a:r>
            <a:r>
              <a:rPr lang="en-US" altLang="en-US">
                <a:sym typeface="+mn-ea"/>
              </a:rPr>
              <a:t>préfecture du département</a:t>
            </a:r>
            <a:r>
              <a:rPr lang="fr-FR" altLang="en-US">
                <a:sym typeface="+mn-ea"/>
              </a:rPr>
              <a:t> - 4 eme ville de France) </a:t>
            </a:r>
            <a:r>
              <a:rPr lang="en-US" altLang="en-US"/>
              <a:t>et fait partie de l'aire d'attraction de Toulouse. </a:t>
            </a:r>
            <a:r>
              <a:rPr lang="fr-FR" altLang="en-US"/>
              <a:t>(source Wikipedia) </a:t>
            </a:r>
            <a:r>
              <a:rPr lang="en-US" altLang="en-US"/>
              <a:t>Elle se situe à 11 km à vol d'oiseau de Toulouse</a:t>
            </a:r>
            <a:r>
              <a:rPr lang="fr-FR" altLang="en-US"/>
              <a:t> </a:t>
            </a:r>
            <a:r>
              <a:rPr lang="en-US" altLang="en-US"/>
              <a:t>et à 6 km de Pechbonnieu[3], bureau centralisateur du canton de Pechbonnieu dont dépend la commune depuis 2015 pour les élections départementales[I 1]. La commune fait en outre partie du bassin de vie de Toulouse[I 1].</a:t>
            </a:r>
          </a:p>
          <a:p>
            <a:endParaRPr lang="en-US" altLang="en-US"/>
          </a:p>
          <a:p>
            <a:r>
              <a:rPr lang="en-US" altLang="en-US">
                <a:sym typeface="+mn-ea"/>
              </a:rPr>
              <a:t>Castelmaurou est limitrophe de huit autres communes</a:t>
            </a:r>
            <a:r>
              <a:rPr lang="fr-FR" altLang="en-US">
                <a:sym typeface="+mn-ea"/>
              </a:rPr>
              <a:t>: </a:t>
            </a:r>
            <a:r>
              <a:rPr lang="en-US" altLang="en-US"/>
              <a:t>Rouffiac-Tolosan (1,5 km), Lapeyrouse-Fossat (2,1 km), Saint-Jean (2,5 km), Saint-Geniès-Bellevue (3,7 km), Beaupuy (3,8 km), Montrabé (3,9 km), Garidech (4,2 km), Gragnague (4,2 km).</a:t>
            </a:r>
          </a:p>
          <a:p>
            <a:r>
              <a:rPr lang="en-US" altLang="en-US"/>
              <a:t>Au 1er janvier 2024, Castelmaurou est catégorisée ceinture urbaine, </a:t>
            </a:r>
            <a:r>
              <a:rPr lang="fr-FR" altLang="en-US"/>
              <a:t>et</a:t>
            </a:r>
            <a:r>
              <a:rPr lang="en-US" altLang="en-US"/>
              <a:t> appartient </a:t>
            </a:r>
            <a:r>
              <a:rPr lang="fr-FR" altLang="en-US"/>
              <a:t> désormais </a:t>
            </a:r>
            <a:r>
              <a:rPr lang="en-US" altLang="en-US"/>
              <a:t>à l'unité urbaine de Toulouse</a:t>
            </a:r>
            <a:r>
              <a:rPr lang="fr-FR" altLang="en-US"/>
              <a:t>.</a:t>
            </a:r>
            <a:endParaRPr lang="en-US" altLang="en-US"/>
          </a:p>
          <a:p>
            <a:r>
              <a:rPr lang="fr-FR"/>
              <a:t>A noter que l</a:t>
            </a:r>
            <a:r>
              <a:rPr lang="en-US" altLang="en-US"/>
              <a:t>a commune est traversée par la route nationale 88</a:t>
            </a:r>
            <a:r>
              <a:rPr lang="fr-FR" altLang="en-US"/>
              <a:t> (</a:t>
            </a:r>
            <a:r>
              <a:rPr lang="en-US" altLang="en-US"/>
              <a:t> axe Lyon-Toulouse.</a:t>
            </a:r>
            <a:r>
              <a:rPr lang="fr-FR" altLang="en-US"/>
              <a:t>) avec deux</a:t>
            </a:r>
            <a:r>
              <a:rPr lang="en-US" altLang="en-US"/>
              <a:t> </a:t>
            </a:r>
            <a:r>
              <a:rPr lang="fr-FR" altLang="en-US"/>
              <a:t>a</a:t>
            </a:r>
            <a:r>
              <a:rPr lang="en-US" altLang="en-US"/>
              <a:t>ccès par l'autoroute A68</a:t>
            </a:r>
            <a:r>
              <a:rPr lang="fr-FR" altLang="en-US"/>
              <a:t> (</a:t>
            </a:r>
            <a:r>
              <a:rPr lang="en-US" altLang="en-US"/>
              <a:t> Sortie 3 Montastruc-la-Conseillère</a:t>
            </a:r>
            <a:r>
              <a:rPr lang="fr-FR" altLang="en-US"/>
              <a:t>; </a:t>
            </a:r>
            <a:r>
              <a:rPr lang="en-US" altLang="en-US"/>
              <a:t> ou depuis le périphérique de Toulouse, Sortie 14 Cx-Daurade</a:t>
            </a:r>
            <a:r>
              <a:rPr lang="fr-FR" altLang="en-US"/>
              <a:t>) garantissant un fort passage de personnes n’étant pas de la commune également.</a:t>
            </a:r>
          </a:p>
          <a:p>
            <a:endParaRPr lang="fr-FR" altLang="en-US"/>
          </a:p>
          <a:p>
            <a:endParaRPr lang="fr-FR" altLang="en-US"/>
          </a:p>
          <a:p>
            <a:endParaRPr lang="fr-FR" altLang="en-US"/>
          </a:p>
          <a:p>
            <a:r>
              <a:rPr lang="fr-FR" altLang="en-US"/>
              <a:t>C</a:t>
            </a:r>
            <a:r>
              <a:rPr lang="en-US" altLang="en-US"/>
              <a:t>oncurrence et positionnement localIl existe déjà une épicerie / commerce alimentaire type « Le petit Marché d’Autrefois » et un commerce de proximité qui a élargi son offre fruits &amp; légumes, produits locaux, etc.��Ces commerces répondent au besoin de dépannage et de produits du quotidien, mais ils ne proposent pas un vrai lieu de vie associatif avec consommation sur place, recyclerie, ateliers, artisanat, culture.��Ton concept se différencie donc sur :la dimension associative (adhésion, vie de quartier, événements),la recyclerie (réemploi, ateliers DIY),l’ancrage producteurs locaux + artisans (objets, cadeaux, petite déco),</a:t>
            </a:r>
          </a:p>
          <a:p>
            <a:r>
              <a:rPr lang="en-US" altLang="en-US"/>
              <a:t>ce qui te positionne plus comme « tiers-lieu » que simple commerce alimentaire.3. Tendance forte au local et circuits courtsEn Occitanie, environ 1 exploitation agricole sur 5 est déjà engagée en circuits courts, avec souvent une part importante du chiffre d’affaires réalisée par ce mode de vente.��Au niveau national, environ 7 consommateurs sur 10 de 55–64 ans achètent en circuit court au moins une fois par mois, et le Sud‑Ouest (dont Occitanie) fait partie des régions où les circuits courts se portent le mieux.�Les motivations principales d’achat local : goût et qualité (76%), soutien à la production française (57%), lien avec les producteurs (52%), juste rémunération (47%) et santé (39%).�Concrètement, ça veut dire qu’une partie significative des foyers de ta zone de chalandise est déjà prête psychologiquement à payer un peu plus pour du local, surtout si tu ajoutes une expérience conviviale (café, animations).4. Potentiel chiffre d’affaires (ordre de grandeur)En restant prudent et en ne prenant que Castelmaurou (sans le bassin de vie autour) :Base « café associatif » :40 clients / jour en moyenne (matin + après‑midi), 5 j/semaine, panier moyen 5 € (boissons, goûter, petite conso) = 4 000 €/mois environ.Base « produits locaux &amp; artisanat » :300 clients différents / mois, panier moyen 15 € (épicerie locale, cadeaux, artisanat) = 4 500 €/mois.Base « recyclerie / ateliers » :Recettes directes plus modestes (adhésions, petites ventes, participation aux ateliers) mais qui renforcent la communauté et font revenir les gens, on peut viser 1 000–1 500 €/mois à terme.Tu arrives donc, à maturité, sur un potentiel de 9 500 à 10 000 € / mois de chiffre d’affaires rien qu’avec une pénétration modeste de la population de Castelmaurou, sans compter les communes voisines et les événements ponctuels.5. Comment transformer ça en dossier « chiffres clés »Pour ton business plan ou pour parler à la mairie / banques, tu peux structurer ainsi :Taille du marché localPopulation : 4 500 hab., croissance +5,87% en 6 ans.��Taux de chômage inférieur à la moyenne nationale (4,6–5,9% vs ~8,8%), donc pouvoir d’achat correct.��Environnement commercialQuelques commerces alimentaires, mais aucun tiers‑lieu mixant café associatif + recyclerie + produits locaux + artisanat.���Tendances de fond1 exploitation sur 5 en Occitanie déjà en circuits courts.��Sud‑Ouest en tête sur la consommation en circuits courts, forte sensibilité au local.�Hypothèse de pénétration et CA (à adapter)10% des habitants comme clients réguliers, panier moyen 40–50 €/mois/personne (café + achats locaux) → environ 18 000–22 500 € de CA annuel par tranche de 100 clients.En visant 300–400 clients réguliers, tu peux justifier un potentiel de 60 000–90 000 € de CA annuel, sans inclure les événements spéciaux.</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fr-FR" altLang="en-US"/>
              <a:t>Hypothèse:</a:t>
            </a:r>
          </a:p>
          <a:p>
            <a:endParaRPr lang="fr-FR" altLang="en-US"/>
          </a:p>
          <a:p>
            <a:r>
              <a:rPr lang="fr-FR" altLang="en-US"/>
              <a:t>castelmaurou = 4500 habitants</a:t>
            </a:r>
          </a:p>
          <a:p>
            <a:r>
              <a:rPr lang="fr-FR" altLang="en-US"/>
              <a:t>Si notre activité en capte 6% comme « usagers réguliers» avec un panier moyen de 10€-15€ par semaine, cela peut générer un Chiffre d’affaires moyen mensuel  de l’ordre de 3300€ uniquement pour la clientèle castelmauroousienne.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‹N°›</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3/23/2026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ladresse.com/annonce/achat/maison/castelmaurou-31180/14237301"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752600" y="4645660"/>
            <a:ext cx="8754745" cy="1228725"/>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p:spPr>
        <p:txBody>
          <a:bodyPr anchor="ctr" anchorCtr="0">
            <a:normAutofit/>
          </a:bodyPr>
          <a:lstStyle/>
          <a:p>
            <a:pPr algn="ctr"/>
            <a:r>
              <a:rPr lang="fr-FR" altLang="en-US">
                <a:solidFill>
                  <a:srgbClr val="EA2AB6"/>
                </a:solidFill>
                <a:effectLst>
                  <a:outerShdw blurRad="50800" dist="38100" dir="2700000" algn="tl" rotWithShape="0">
                    <a:prstClr val="black">
                      <a:alpha val="40000"/>
                    </a:prstClr>
                  </a:outerShdw>
                </a:effectLst>
              </a:rPr>
              <a:t>Maison Castel</a:t>
            </a:r>
          </a:p>
        </p:txBody>
      </p:sp>
      <p:sp>
        <p:nvSpPr>
          <p:cNvPr id="3" name="Subtitle 2"/>
          <p:cNvSpPr>
            <a:spLocks noGrp="1"/>
          </p:cNvSpPr>
          <p:nvPr>
            <p:ph type="subTitle" idx="1"/>
          </p:nvPr>
        </p:nvSpPr>
        <p:spPr>
          <a:xfrm>
            <a:off x="600075" y="6515735"/>
            <a:ext cx="11185525" cy="283210"/>
          </a:xfrm>
          <a:solidFill>
            <a:schemeClr val="accent2"/>
          </a:solidFill>
        </p:spPr>
        <p:style>
          <a:lnRef idx="0">
            <a:srgbClr val="FFFFFF"/>
          </a:lnRef>
          <a:fillRef idx="1">
            <a:schemeClr val="accent1"/>
          </a:fillRef>
          <a:effectRef idx="0">
            <a:srgbClr val="FFFFFF"/>
          </a:effectRef>
          <a:fontRef idx="minor">
            <a:schemeClr val="lt1"/>
          </a:fontRef>
        </p:style>
        <p:txBody>
          <a:bodyPr>
            <a:normAutofit fontScale="50000"/>
          </a:bodyPr>
          <a:lstStyle/>
          <a:p>
            <a:r>
              <a:rPr lang="fr-FR" altLang="en-US">
                <a:solidFill>
                  <a:srgbClr val="002060"/>
                </a:solidFill>
              </a:rPr>
              <a:t>Projet présenté par Audrey Gondinet - Mars 2026</a:t>
            </a:r>
          </a:p>
          <a:p>
            <a:endParaRPr lang="fr-FR" altLang="en-US">
              <a:solidFill>
                <a:srgbClr val="002060"/>
              </a:solidFill>
            </a:endParaRPr>
          </a:p>
        </p:txBody>
      </p:sp>
      <p:pic>
        <p:nvPicPr>
          <p:cNvPr id="4" name="Picture 3"/>
          <p:cNvPicPr/>
          <p:nvPr/>
        </p:nvPicPr>
        <p:blipFill>
          <a:blip r:embed="rId4"/>
          <a:stretch>
            <a:fillRect/>
          </a:stretch>
        </p:blipFill>
        <p:spPr>
          <a:xfrm rot="20160000">
            <a:off x="596900" y="717550"/>
            <a:ext cx="2634615" cy="2010410"/>
          </a:xfrm>
          <a:prstGeom prst="rect">
            <a:avLst/>
          </a:prstGeom>
        </p:spPr>
      </p:pic>
      <p:pic>
        <p:nvPicPr>
          <p:cNvPr id="5" name="Picture 4"/>
          <p:cNvPicPr/>
          <p:nvPr/>
        </p:nvPicPr>
        <p:blipFill>
          <a:blip r:embed="rId5"/>
          <a:stretch>
            <a:fillRect/>
          </a:stretch>
        </p:blipFill>
        <p:spPr>
          <a:xfrm rot="900000">
            <a:off x="8670290" y="834390"/>
            <a:ext cx="3185160" cy="17760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80695" y="365125"/>
            <a:ext cx="10873105" cy="1325880"/>
          </a:xfrm>
        </p:spPr>
        <p:txBody>
          <a:bodyPr>
            <a:normAutofit/>
          </a:bodyPr>
          <a:lstStyle/>
          <a:p>
            <a:r>
              <a:rPr lang="fr-FR" altLang="en-US" i="1"/>
              <a:t>Résumé Executif</a:t>
            </a:r>
          </a:p>
        </p:txBody>
      </p:sp>
      <p:sp>
        <p:nvSpPr>
          <p:cNvPr id="5" name="Text Placeholder 4"/>
          <p:cNvSpPr>
            <a:spLocks noGrp="1"/>
          </p:cNvSpPr>
          <p:nvPr>
            <p:ph type="body" orient="vert" idx="4294967295"/>
          </p:nvPr>
        </p:nvSpPr>
        <p:spPr>
          <a:xfrm>
            <a:off x="480695" y="1825625"/>
            <a:ext cx="11463020" cy="4351655"/>
          </a:xfrm>
        </p:spPr>
        <p:txBody>
          <a:bodyPr>
            <a:normAutofit fontScale="60000"/>
          </a:bodyPr>
          <a:lstStyle/>
          <a:p>
            <a:endParaRPr lang="fr-FR" altLang="en-US">
              <a:highlight>
                <a:srgbClr val="00FFFF"/>
              </a:highlight>
            </a:endParaRPr>
          </a:p>
          <a:p>
            <a:r>
              <a:rPr lang="en-US" altLang="en-US" b="1">
                <a:sym typeface="+mn-ea"/>
              </a:rPr>
              <a:t>Un projet de vie au centre de Castelmaurou</a:t>
            </a:r>
            <a:r>
              <a:rPr lang="fr-FR" altLang="en-US">
                <a:sym typeface="+mn-ea"/>
              </a:rPr>
              <a:t>: 1 </a:t>
            </a:r>
            <a:r>
              <a:rPr lang="fr-FR" altLang="en-US">
                <a:highlight>
                  <a:srgbClr val="C0C0C0"/>
                </a:highlight>
                <a:sym typeface="+mn-ea"/>
              </a:rPr>
              <a:t>investissement immobilier</a:t>
            </a:r>
            <a:r>
              <a:rPr lang="fr-FR" altLang="en-US">
                <a:sym typeface="+mn-ea"/>
              </a:rPr>
              <a:t> en coeur de ville pour y acceuillir non pas 1, mais </a:t>
            </a:r>
            <a:r>
              <a:rPr lang="fr-FR" altLang="en-US">
                <a:highlight>
                  <a:srgbClr val="C0C0C0"/>
                </a:highlight>
                <a:sym typeface="+mn-ea"/>
              </a:rPr>
              <a:t>plusieurs activités commerciales et associatives</a:t>
            </a:r>
            <a:r>
              <a:rPr lang="fr-FR" altLang="en-US">
                <a:sym typeface="+mn-ea"/>
              </a:rPr>
              <a:t> au service des habitants de Castelmaurou et plus largement.</a:t>
            </a:r>
          </a:p>
          <a:p>
            <a:r>
              <a:rPr lang="fr-FR" altLang="en-US" b="1">
                <a:sym typeface="+mn-ea"/>
              </a:rPr>
              <a:t>Le concept de la «Maison Castel»*</a:t>
            </a:r>
            <a:r>
              <a:rPr lang="fr-FR" altLang="en-US">
                <a:sym typeface="+mn-ea"/>
              </a:rPr>
              <a:t>: le </a:t>
            </a:r>
            <a:r>
              <a:rPr lang="fr-FR" altLang="en-US">
                <a:solidFill>
                  <a:schemeClr val="accent1"/>
                </a:solidFill>
                <a:effectLst>
                  <a:outerShdw blurRad="38100" dist="25400" dir="5400000" algn="ctr" rotWithShape="0">
                    <a:srgbClr val="6E747A">
                      <a:alpha val="43000"/>
                    </a:srgbClr>
                  </a:outerShdw>
                </a:effectLst>
                <a:sym typeface="+mn-ea"/>
              </a:rPr>
              <a:t>Garage</a:t>
            </a:r>
            <a:r>
              <a:rPr lang="fr-FR" altLang="en-US">
                <a:sym typeface="+mn-ea"/>
              </a:rPr>
              <a:t> (offre type ressourcerie ou recyclerie); le </a:t>
            </a:r>
            <a:r>
              <a:rPr lang="fr-FR" altLang="en-US">
                <a:solidFill>
                  <a:schemeClr val="accent1"/>
                </a:solidFill>
                <a:effectLst>
                  <a:outerShdw blurRad="38100" dist="25400" dir="5400000" algn="ctr" rotWithShape="0">
                    <a:srgbClr val="6E747A">
                      <a:alpha val="43000"/>
                    </a:srgbClr>
                  </a:outerShdw>
                </a:effectLst>
                <a:sym typeface="+mn-ea"/>
              </a:rPr>
              <a:t>Cellier </a:t>
            </a:r>
            <a:r>
              <a:rPr lang="fr-FR" altLang="en-US">
                <a:sym typeface="+mn-ea"/>
              </a:rPr>
              <a:t>(Commerce de produit locaux sec et artisanat d’art locaux); la </a:t>
            </a:r>
            <a:r>
              <a:rPr lang="fr-FR" altLang="en-US">
                <a:solidFill>
                  <a:schemeClr val="accent1"/>
                </a:solidFill>
                <a:effectLst>
                  <a:outerShdw blurRad="38100" dist="25400" dir="5400000" algn="ctr" rotWithShape="0">
                    <a:srgbClr val="6E747A">
                      <a:alpha val="43000"/>
                    </a:srgbClr>
                  </a:outerShdw>
                </a:effectLst>
                <a:sym typeface="+mn-ea"/>
              </a:rPr>
              <a:t>Salle de jeu</a:t>
            </a:r>
            <a:r>
              <a:rPr lang="fr-FR" altLang="en-US">
                <a:sym typeface="+mn-ea"/>
              </a:rPr>
              <a:t> (Accueil, temps et animations dédiés aux familles, avec un focus ado et senior, idéalement melangés) , le </a:t>
            </a:r>
            <a:r>
              <a:rPr lang="fr-FR" altLang="en-US">
                <a:solidFill>
                  <a:schemeClr val="accent1"/>
                </a:solidFill>
                <a:effectLst>
                  <a:outerShdw blurRad="38100" dist="25400" dir="5400000" algn="ctr" rotWithShape="0">
                    <a:srgbClr val="6E747A">
                      <a:alpha val="43000"/>
                    </a:srgbClr>
                  </a:outerShdw>
                </a:effectLst>
                <a:sym typeface="+mn-ea"/>
              </a:rPr>
              <a:t>Bureau </a:t>
            </a:r>
            <a:r>
              <a:rPr lang="fr-FR" altLang="en-US">
                <a:sym typeface="+mn-ea"/>
              </a:rPr>
              <a:t>(espace co-working),  la </a:t>
            </a:r>
            <a:r>
              <a:rPr lang="fr-FR" altLang="en-US">
                <a:solidFill>
                  <a:schemeClr val="accent1"/>
                </a:solidFill>
                <a:effectLst>
                  <a:outerShdw blurRad="38100" dist="25400" dir="5400000" algn="ctr" rotWithShape="0">
                    <a:srgbClr val="6E747A">
                      <a:alpha val="43000"/>
                    </a:srgbClr>
                  </a:outerShdw>
                </a:effectLst>
                <a:sym typeface="+mn-ea"/>
              </a:rPr>
              <a:t>Chambre</a:t>
            </a:r>
            <a:r>
              <a:rPr lang="fr-FR" altLang="en-US">
                <a:sym typeface="+mn-ea"/>
              </a:rPr>
              <a:t> ( location courte durée, B&amp;B); La </a:t>
            </a:r>
            <a:r>
              <a:rPr lang="fr-FR" altLang="en-US">
                <a:solidFill>
                  <a:schemeClr val="accent1"/>
                </a:solidFill>
                <a:effectLst>
                  <a:outerShdw blurRad="38100" dist="25400" dir="5400000" algn="ctr" rotWithShape="0">
                    <a:srgbClr val="6E747A">
                      <a:alpha val="43000"/>
                    </a:srgbClr>
                  </a:outerShdw>
                </a:effectLst>
                <a:sym typeface="+mn-ea"/>
              </a:rPr>
              <a:t>Cuisine</a:t>
            </a:r>
            <a:r>
              <a:rPr lang="fr-FR" altLang="en-US">
                <a:sym typeface="+mn-ea"/>
              </a:rPr>
              <a:t> (offre petite restauration et animation d’ateliers + location pour evenements), le </a:t>
            </a:r>
            <a:r>
              <a:rPr lang="fr-FR" altLang="en-US">
                <a:solidFill>
                  <a:schemeClr val="accent1"/>
                </a:solidFill>
                <a:effectLst>
                  <a:outerShdw blurRad="38100" dist="25400" dir="5400000" algn="ctr" rotWithShape="0">
                    <a:srgbClr val="6E747A">
                      <a:alpha val="43000"/>
                    </a:srgbClr>
                  </a:outerShdw>
                </a:effectLst>
                <a:sym typeface="+mn-ea"/>
              </a:rPr>
              <a:t>Salon</a:t>
            </a:r>
            <a:r>
              <a:rPr lang="fr-FR" altLang="en-US">
                <a:sym typeface="+mn-ea"/>
              </a:rPr>
              <a:t> (soirée à theme, bar). </a:t>
            </a:r>
            <a:endParaRPr lang="fr-FR" altLang="en-US"/>
          </a:p>
          <a:p>
            <a:r>
              <a:rPr lang="fr-FR" altLang="en-US">
                <a:sym typeface="+mn-ea"/>
              </a:rPr>
              <a:t>Castelmaurou: commune en croissance (6% depuis de 2017), plutot aisée. L’offre local circuit court fortement plébiscité</a:t>
            </a:r>
            <a:endParaRPr lang="fr-FR" altLang="en-US"/>
          </a:p>
          <a:p>
            <a:r>
              <a:rPr lang="en-US" altLang="en-US">
                <a:highlight>
                  <a:srgbClr val="00FFFF"/>
                </a:highlight>
              </a:rPr>
              <a:t>Potentiel du marché local (2–3 chiffres clés).</a:t>
            </a:r>
          </a:p>
          <a:p>
            <a:r>
              <a:rPr lang="en-US" altLang="en-US">
                <a:highlight>
                  <a:srgbClr val="00FFFF"/>
                </a:highlight>
              </a:rPr>
              <a:t>Forces majeures du projet (expérience, concept différenciant, emplacement, partenariats…).</a:t>
            </a:r>
          </a:p>
          <a:p>
            <a:r>
              <a:rPr lang="en-US" altLang="en-US">
                <a:highlight>
                  <a:srgbClr val="00FFFF"/>
                </a:highlight>
              </a:rPr>
              <a:t>Chiffres clés prévisionnels (CA année 3, seuil de rentabilité, capacité d’autofinancement).</a:t>
            </a:r>
          </a:p>
          <a:p>
            <a:r>
              <a:rPr lang="fr-FR" altLang="en-US">
                <a:highlight>
                  <a:srgbClr val="00FFFF"/>
                </a:highlight>
              </a:rPr>
              <a:t>Montant </a:t>
            </a:r>
            <a:r>
              <a:rPr lang="en-US" altLang="en-US">
                <a:highlight>
                  <a:srgbClr val="00FFFF"/>
                </a:highlight>
              </a:rPr>
              <a:t>total du projet, apport perso, financement bancaire</a:t>
            </a:r>
          </a:p>
        </p:txBody>
      </p:sp>
      <p:sp>
        <p:nvSpPr>
          <p:cNvPr id="6" name="Rectangles 5"/>
          <p:cNvSpPr/>
          <p:nvPr/>
        </p:nvSpPr>
        <p:spPr>
          <a:xfrm>
            <a:off x="9449435" y="297815"/>
            <a:ext cx="2494280" cy="922655"/>
          </a:xfrm>
          <a:prstGeom prst="rect">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a:sym typeface="+mn-ea"/>
              </a:rPr>
              <a:t>(en 5–6 points max)</a:t>
            </a:r>
            <a:endParaRPr lang="en-US"/>
          </a:p>
        </p:txBody>
      </p:sp>
      <p:sp>
        <p:nvSpPr>
          <p:cNvPr id="7" name="Text Box 6"/>
          <p:cNvSpPr txBox="1"/>
          <p:nvPr/>
        </p:nvSpPr>
        <p:spPr>
          <a:xfrm>
            <a:off x="1019810" y="6433185"/>
            <a:ext cx="11172190" cy="275590"/>
          </a:xfrm>
          <a:prstGeom prst="rect">
            <a:avLst/>
          </a:prstGeom>
          <a:noFill/>
        </p:spPr>
        <p:txBody>
          <a:bodyPr wrap="square" rtlCol="0">
            <a:spAutoFit/>
          </a:bodyPr>
          <a:lstStyle/>
          <a:p>
            <a:pPr algn="r"/>
            <a:r>
              <a:rPr lang="fr-FR" altLang="en-US" sz="1200" i="1"/>
              <a:t>* tous les noms de marque et lieux sont seulement donnés à titre indicatifs pour illustrer le concept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ltLang="en-US"/>
              <a:t>Investissement immobilier</a:t>
            </a:r>
          </a:p>
        </p:txBody>
      </p:sp>
      <p:pic>
        <p:nvPicPr>
          <p:cNvPr id="5" name="Picture 4"/>
          <p:cNvPicPr>
            <a:picLocks noChangeAspect="1"/>
          </p:cNvPicPr>
          <p:nvPr/>
        </p:nvPicPr>
        <p:blipFill>
          <a:blip r:embed="rId2"/>
          <a:stretch>
            <a:fillRect/>
          </a:stretch>
        </p:blipFill>
        <p:spPr>
          <a:xfrm>
            <a:off x="123825" y="1615440"/>
            <a:ext cx="11944350" cy="489521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a:hlinkClick r:id="rId2" action="ppaction://hlinkfile"/>
          </p:cNvPr>
          <p:cNvPicPr>
            <a:picLocks noGrp="1" noChangeAspect="1"/>
          </p:cNvPicPr>
          <p:nvPr>
            <p:ph idx="1"/>
          </p:nvPr>
        </p:nvPicPr>
        <p:blipFill>
          <a:blip r:embed="rId3"/>
          <a:stretch>
            <a:fillRect/>
          </a:stretch>
        </p:blipFill>
        <p:spPr>
          <a:xfrm>
            <a:off x="1404620" y="768985"/>
            <a:ext cx="8855710" cy="51866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ltLang="en-US"/>
              <a:t>1 - </a:t>
            </a:r>
            <a:r>
              <a:rPr lang="en-US" altLang="en-US"/>
              <a:t>Porteur de projet &amp; équipe</a:t>
            </a:r>
          </a:p>
        </p:txBody>
      </p:sp>
      <p:sp>
        <p:nvSpPr>
          <p:cNvPr id="3" name="Content Placeholder 2"/>
          <p:cNvSpPr>
            <a:spLocks noGrp="1"/>
          </p:cNvSpPr>
          <p:nvPr>
            <p:ph idx="1"/>
          </p:nvPr>
        </p:nvSpPr>
        <p:spPr/>
        <p:txBody>
          <a:bodyPr/>
          <a:lstStyle/>
          <a:p>
            <a:r>
              <a:rPr lang="en-US" altLang="en-US">
                <a:highlight>
                  <a:srgbClr val="00FFFF"/>
                </a:highlight>
              </a:rPr>
              <a:t> porteur du projet</a:t>
            </a:r>
            <a:r>
              <a:rPr lang="fr-FR" altLang="en-US">
                <a:highlight>
                  <a:srgbClr val="00FFFF"/>
                </a:highlight>
              </a:rPr>
              <a:t>: </a:t>
            </a:r>
            <a:r>
              <a:rPr lang="en-US" altLang="en-US">
                <a:highlight>
                  <a:srgbClr val="00FFFF"/>
                </a:highlight>
              </a:rPr>
              <a:t>Parcours professionnel (points en lien direct avec le projet).Compétences clés (gestion, commercial, technique, animation, etc.).Motivations et cohérence avec votre situation personnelle (parent, ancrage local, connaissance du territoire…).</a:t>
            </a:r>
          </a:p>
          <a:p>
            <a:endParaRPr lang="en-US" altLang="en-US">
              <a:highlight>
                <a:srgbClr val="00FFFF"/>
              </a:highlight>
            </a:endParaRPr>
          </a:p>
          <a:p>
            <a:r>
              <a:rPr lang="en-US" altLang="en-US">
                <a:highlight>
                  <a:srgbClr val="00FFFF"/>
                </a:highlight>
              </a:rPr>
              <a:t>Équipe au démarrage (vous + éventuels salariés / aidants).Organisation du travail (horaires d’ouverture, présence sur site, répartition des tâches).Montée en charge prévue (recrutements futurs selon palier de CA).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 </a:t>
            </a:r>
            <a:r>
              <a:rPr lang="fr-FR" altLang="en-US"/>
              <a:t>2a - </a:t>
            </a:r>
            <a:r>
              <a:rPr lang="en-US" altLang="en-US"/>
              <a:t>Marché &amp; opportunité</a:t>
            </a:r>
          </a:p>
        </p:txBody>
      </p:sp>
      <p:sp>
        <p:nvSpPr>
          <p:cNvPr id="3" name="Content Placeholder 2"/>
          <p:cNvSpPr>
            <a:spLocks noGrp="1"/>
          </p:cNvSpPr>
          <p:nvPr>
            <p:ph idx="1"/>
          </p:nvPr>
        </p:nvSpPr>
        <p:spPr>
          <a:xfrm>
            <a:off x="838200" y="1825625"/>
            <a:ext cx="7783830" cy="4351655"/>
          </a:xfrm>
        </p:spPr>
        <p:txBody>
          <a:bodyPr>
            <a:normAutofit fontScale="90000" lnSpcReduction="20000"/>
          </a:bodyPr>
          <a:lstStyle/>
          <a:p>
            <a:r>
              <a:rPr lang="en-US" altLang="en-US">
                <a:highlight>
                  <a:srgbClr val="00FFFF"/>
                </a:highlight>
              </a:rPr>
              <a:t>Contexte et besoins identifiés</a:t>
            </a:r>
          </a:p>
          <a:p>
            <a:pPr marL="0" indent="0">
              <a:buNone/>
            </a:pPr>
            <a:r>
              <a:rPr lang="en-US" altLang="en-US">
                <a:highlight>
                  <a:srgbClr val="00FFFF"/>
                </a:highlight>
              </a:rPr>
              <a:t>Description rapide du quartier/ville, fréquentation, flux (familles, actifs, touristes…).Besoins non couverts ou mal couverts (manque de commerces de proximité, peu d’offres familiales, manque d’animation, etc.).Tendances favorables (consommation locale, loisirs familiaux, circuits courts…)</a:t>
            </a:r>
          </a:p>
          <a:p>
            <a:r>
              <a:rPr lang="en-US" altLang="en-US">
                <a:highlight>
                  <a:srgbClr val="00FFFF"/>
                </a:highlight>
              </a:rPr>
              <a:t>Clientèle cible : </a:t>
            </a:r>
          </a:p>
          <a:p>
            <a:pPr marL="0" indent="0">
              <a:buNone/>
            </a:pPr>
            <a:r>
              <a:rPr lang="en-US" altLang="en-US">
                <a:highlight>
                  <a:srgbClr val="00FFFF"/>
                </a:highlight>
                <a:sym typeface="+mn-ea"/>
              </a:rPr>
              <a:t>Segments</a:t>
            </a:r>
            <a:r>
              <a:rPr lang="fr-FR" altLang="en-US">
                <a:highlight>
                  <a:srgbClr val="00FFFF"/>
                </a:highlight>
                <a:sym typeface="+mn-ea"/>
              </a:rPr>
              <a:t>: </a:t>
            </a:r>
            <a:r>
              <a:rPr lang="en-US" altLang="en-US">
                <a:highlight>
                  <a:srgbClr val="00FFFF"/>
                </a:highlight>
              </a:rPr>
              <a:t>familles avec enfants, habitants du quartier, </a:t>
            </a:r>
            <a:r>
              <a:rPr lang="fr-FR" altLang="en-US">
                <a:highlight>
                  <a:srgbClr val="00FFFF"/>
                </a:highlight>
              </a:rPr>
              <a:t>seniors, </a:t>
            </a:r>
            <a:r>
              <a:rPr lang="en-US" altLang="en-US">
                <a:highlight>
                  <a:srgbClr val="00FFFF"/>
                </a:highlight>
              </a:rPr>
              <a:t>travailleurs à proximité, touristes si pertinent.</a:t>
            </a:r>
            <a:r>
              <a:rPr lang="fr-FR" altLang="en-US">
                <a:highlight>
                  <a:srgbClr val="00FFFF"/>
                </a:highlight>
              </a:rPr>
              <a:t> </a:t>
            </a:r>
          </a:p>
          <a:p>
            <a:r>
              <a:rPr lang="en-US" altLang="en-US">
                <a:highlight>
                  <a:srgbClr val="00FFFF"/>
                </a:highlight>
              </a:rPr>
              <a:t>Besoins par segment (praticité, prix, qualité, convivialité, activités enfants…).Ticket moyen et fréquence de visite visés par segment</a:t>
            </a:r>
          </a:p>
        </p:txBody>
      </p:sp>
      <p:pic>
        <p:nvPicPr>
          <p:cNvPr id="4" name="Picture 3"/>
          <p:cNvPicPr>
            <a:picLocks noChangeAspect="1"/>
          </p:cNvPicPr>
          <p:nvPr/>
        </p:nvPicPr>
        <p:blipFill>
          <a:blip r:embed="rId3"/>
          <a:stretch>
            <a:fillRect/>
          </a:stretch>
        </p:blipFill>
        <p:spPr>
          <a:xfrm>
            <a:off x="8621395" y="365125"/>
            <a:ext cx="3343275" cy="3438525"/>
          </a:xfrm>
          <a:prstGeom prst="rect">
            <a:avLst/>
          </a:prstGeom>
        </p:spPr>
      </p:pic>
      <p:pic>
        <p:nvPicPr>
          <p:cNvPr id="5" name="Picture 4"/>
          <p:cNvPicPr>
            <a:picLocks noChangeAspect="1"/>
          </p:cNvPicPr>
          <p:nvPr/>
        </p:nvPicPr>
        <p:blipFill>
          <a:blip r:embed="rId4"/>
          <a:stretch>
            <a:fillRect/>
          </a:stretch>
        </p:blipFill>
        <p:spPr>
          <a:xfrm>
            <a:off x="9081135" y="3941445"/>
            <a:ext cx="2423160" cy="24879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ltLang="en-US"/>
              <a:t>2b- </a:t>
            </a:r>
            <a:r>
              <a:rPr lang="en-US" altLang="en-US"/>
              <a:t>Concurrence &amp; positionnement</a:t>
            </a:r>
          </a:p>
        </p:txBody>
      </p:sp>
      <p:sp>
        <p:nvSpPr>
          <p:cNvPr id="3" name="Content Placeholder 2"/>
          <p:cNvSpPr>
            <a:spLocks noGrp="1"/>
          </p:cNvSpPr>
          <p:nvPr>
            <p:ph idx="1"/>
          </p:nvPr>
        </p:nvSpPr>
        <p:spPr/>
        <p:txBody>
          <a:bodyPr/>
          <a:lstStyle/>
          <a:p>
            <a:r>
              <a:rPr lang="en-US" altLang="en-US">
                <a:highlight>
                  <a:srgbClr val="00FFFF"/>
                </a:highlight>
              </a:rPr>
              <a:t>Carte ou liste synthétique des concurrents directs/indirects (offres similaires, grandes surfaces, e-commerce…)</a:t>
            </a:r>
          </a:p>
          <a:p>
            <a:r>
              <a:rPr lang="en-US" altLang="en-US">
                <a:highlight>
                  <a:srgbClr val="00FFFF"/>
                </a:highlight>
              </a:rPr>
              <a:t>Leurs forces/faiblesses (prix, qualité, proximité, amplitude horaire, expérience)</a:t>
            </a:r>
          </a:p>
          <a:p>
            <a:r>
              <a:rPr lang="en-US" altLang="en-US">
                <a:highlight>
                  <a:srgbClr val="00FFFF"/>
                </a:highlight>
              </a:rPr>
              <a:t>Votre positionnement : « ce que vous faites de mieux ou différemment ».3–4 avantages concurrentiels clairs (localisation, concept, services, expérience client).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ltLang="en-US"/>
              <a:t>2c- </a:t>
            </a:r>
            <a:r>
              <a:rPr lang="en-US" altLang="en-US"/>
              <a:t>Analyse SWOT</a:t>
            </a:r>
          </a:p>
        </p:txBody>
      </p:sp>
      <p:sp>
        <p:nvSpPr>
          <p:cNvPr id="3" name="Content Placeholder 2"/>
          <p:cNvSpPr>
            <a:spLocks noGrp="1"/>
          </p:cNvSpPr>
          <p:nvPr>
            <p:ph idx="1"/>
          </p:nvPr>
        </p:nvSpPr>
        <p:spPr/>
        <p:txBody>
          <a:bodyPr/>
          <a:lstStyle/>
          <a:p>
            <a:endParaRPr lang="en-US" altLang="en-US">
              <a:highlight>
                <a:srgbClr val="00FFFF"/>
              </a:highlight>
            </a:endParaRPr>
          </a:p>
          <a:p>
            <a:r>
              <a:rPr lang="en-US" altLang="en-US">
                <a:highlight>
                  <a:srgbClr val="00FFFF"/>
                </a:highlight>
              </a:rPr>
              <a:t>Forces : vos atouts personnels, concept, réseau local, etc.</a:t>
            </a:r>
          </a:p>
          <a:p>
            <a:r>
              <a:rPr lang="en-US" altLang="en-US">
                <a:highlight>
                  <a:srgbClr val="00FFFF"/>
                </a:highlight>
              </a:rPr>
              <a:t>Faiblesses : manque d’historique, dépendance à votre présence, etc.</a:t>
            </a:r>
          </a:p>
          <a:p>
            <a:r>
              <a:rPr lang="en-US" altLang="en-US">
                <a:highlight>
                  <a:srgbClr val="00FFFF"/>
                </a:highlight>
              </a:rPr>
              <a:t>Opportunités : évolution du quartier, tendance consommation locale, partenariats possibles.</a:t>
            </a:r>
          </a:p>
          <a:p>
            <a:r>
              <a:rPr lang="en-US" altLang="en-US">
                <a:highlight>
                  <a:srgbClr val="00FFFF"/>
                </a:highlight>
              </a:rPr>
              <a:t>Menaces : concurrence, conjoncture, saisonnalité, travaux, etc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ltLang="en-US"/>
              <a:t>3- </a:t>
            </a:r>
            <a:r>
              <a:rPr lang="en-US" altLang="en-US"/>
              <a:t>Concept &amp; offre</a:t>
            </a:r>
          </a:p>
        </p:txBody>
      </p:sp>
      <p:sp>
        <p:nvSpPr>
          <p:cNvPr id="3" name="Content Placeholder 2"/>
          <p:cNvSpPr>
            <a:spLocks noGrp="1"/>
          </p:cNvSpPr>
          <p:nvPr>
            <p:ph idx="1"/>
          </p:nvPr>
        </p:nvSpPr>
        <p:spPr/>
        <p:txBody>
          <a:bodyPr>
            <a:normAutofit lnSpcReduction="10000"/>
          </a:bodyPr>
          <a:lstStyle/>
          <a:p>
            <a:r>
              <a:rPr lang="en-US" altLang="en-US">
                <a:highlight>
                  <a:srgbClr val="00FFFF"/>
                </a:highlight>
              </a:rPr>
              <a:t>Le concept</a:t>
            </a:r>
          </a:p>
          <a:p>
            <a:pPr marL="0" indent="0">
              <a:buNone/>
            </a:pPr>
            <a:r>
              <a:rPr lang="en-US" altLang="en-US">
                <a:highlight>
                  <a:srgbClr val="00FFFF"/>
                </a:highlight>
              </a:rPr>
              <a:t>Description simple du lieu et de l’expérience client (parcours type d’un client).Services proposés (vente, ateliers, événements, privatisations, etc.).Valeur ajoutée : pourquoi les gens viendront chez vous plutôt qu’ailleurs</a:t>
            </a:r>
          </a:p>
          <a:p>
            <a:pPr marL="0" indent="0">
              <a:buNone/>
            </a:pPr>
            <a:endParaRPr lang="en-US" altLang="en-US">
              <a:highlight>
                <a:srgbClr val="00FFFF"/>
              </a:highlight>
            </a:endParaRPr>
          </a:p>
          <a:p>
            <a:r>
              <a:rPr lang="en-US" altLang="en-US">
                <a:highlight>
                  <a:srgbClr val="00FFFF"/>
                </a:highlight>
              </a:rPr>
              <a:t>Offre détaillée</a:t>
            </a:r>
          </a:p>
          <a:p>
            <a:pPr marL="0" indent="0">
              <a:buNone/>
            </a:pPr>
            <a:r>
              <a:rPr lang="en-US" altLang="en-US">
                <a:highlight>
                  <a:srgbClr val="00FFFF"/>
                </a:highlight>
              </a:rPr>
              <a:t>Catégories de produits / services (avec ordre de grandeur de prix).</a:t>
            </a:r>
          </a:p>
          <a:p>
            <a:pPr marL="0" indent="0">
              <a:buNone/>
            </a:pPr>
            <a:r>
              <a:rPr lang="en-US" altLang="en-US">
                <a:highlight>
                  <a:srgbClr val="00FFFF"/>
                </a:highlight>
              </a:rPr>
              <a:t>Part estimée de chaque famille dans le CA (en %).</a:t>
            </a:r>
          </a:p>
          <a:p>
            <a:pPr marL="0" indent="0">
              <a:buNone/>
            </a:pPr>
            <a:r>
              <a:rPr lang="en-US" altLang="en-US">
                <a:highlight>
                  <a:srgbClr val="00FFFF"/>
                </a:highlight>
              </a:rPr>
              <a:t>Politique de prix (alignement, léger premium, promo de lancement).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ltLang="en-US"/>
              <a:t>4 - </a:t>
            </a:r>
            <a:r>
              <a:rPr lang="en-US" altLang="en-US"/>
              <a:t>Stratégie commerciale &amp; marketing</a:t>
            </a:r>
          </a:p>
        </p:txBody>
      </p:sp>
      <p:sp>
        <p:nvSpPr>
          <p:cNvPr id="3" name="Content Placeholder 2"/>
          <p:cNvSpPr>
            <a:spLocks noGrp="1"/>
          </p:cNvSpPr>
          <p:nvPr>
            <p:ph idx="1"/>
          </p:nvPr>
        </p:nvSpPr>
        <p:spPr/>
        <p:txBody>
          <a:bodyPr>
            <a:normAutofit lnSpcReduction="20000"/>
          </a:bodyPr>
          <a:lstStyle/>
          <a:p>
            <a:r>
              <a:rPr lang="en-US" altLang="en-US">
                <a:highlight>
                  <a:srgbClr val="00FFFF"/>
                </a:highlight>
              </a:rPr>
              <a:t>Stratégie de lancement</a:t>
            </a:r>
          </a:p>
          <a:p>
            <a:pPr marL="0" indent="0">
              <a:buNone/>
            </a:pPr>
            <a:r>
              <a:rPr lang="en-US" altLang="en-US">
                <a:highlight>
                  <a:srgbClr val="00FFFF"/>
                </a:highlight>
              </a:rPr>
              <a:t>Objectifs des 6–12 premiers mois (notoriété, remplissage, fidélisation).Actions concrètes :Communication locale (flyers, partenariats écoles/assos, commerçants voisins).Présence digitale (Google Business, réseaux sociaux, site, newsletter).Offre de lancement (journée portes ouvertes, offres découverte, jeux concours…).</a:t>
            </a:r>
          </a:p>
          <a:p>
            <a:pPr marL="0" indent="0">
              <a:buNone/>
            </a:pPr>
            <a:endParaRPr lang="en-US" altLang="en-US">
              <a:highlight>
                <a:srgbClr val="00FFFF"/>
              </a:highlight>
            </a:endParaRPr>
          </a:p>
          <a:p>
            <a:r>
              <a:rPr lang="en-US" altLang="en-US">
                <a:highlight>
                  <a:srgbClr val="00FFFF"/>
                </a:highlight>
              </a:rPr>
              <a:t>Stratégie à 3 ans</a:t>
            </a:r>
          </a:p>
          <a:p>
            <a:pPr marL="0" indent="0">
              <a:buNone/>
            </a:pPr>
            <a:r>
              <a:rPr lang="en-US" altLang="en-US">
                <a:highlight>
                  <a:srgbClr val="00FFFF"/>
                </a:highlight>
              </a:rPr>
              <a:t>Axes de développement (nouvelle gamme, plus d’ateliers, services complémentaires, extension horaires…).Indicateurs de suivi : nombre de clients, ticket moyen, taux de remplissage ateliers, part des revenus récurrents.Vision à 3 ans (position de référence locale sur votre niche)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ltLang="en-US"/>
              <a:t>5 - </a:t>
            </a:r>
            <a:r>
              <a:rPr lang="en-US" altLang="en-US"/>
              <a:t>Modèle économique</a:t>
            </a:r>
          </a:p>
        </p:txBody>
      </p:sp>
      <p:sp>
        <p:nvSpPr>
          <p:cNvPr id="3" name="Content Placeholder 2"/>
          <p:cNvSpPr>
            <a:spLocks noGrp="1"/>
          </p:cNvSpPr>
          <p:nvPr>
            <p:ph idx="1"/>
          </p:nvPr>
        </p:nvSpPr>
        <p:spPr/>
        <p:txBody>
          <a:bodyPr/>
          <a:lstStyle/>
          <a:p>
            <a:r>
              <a:rPr lang="en-US" altLang="en-US">
                <a:highlight>
                  <a:srgbClr val="00FFFF"/>
                </a:highlight>
              </a:rPr>
              <a:t>Business model (schéma)</a:t>
            </a:r>
          </a:p>
          <a:p>
            <a:pPr marL="0" indent="0">
              <a:buNone/>
            </a:pPr>
            <a:r>
              <a:rPr lang="en-US" altLang="en-US">
                <a:highlight>
                  <a:srgbClr val="00FFFF"/>
                </a:highlight>
              </a:rPr>
              <a:t>Sources de revenus :</a:t>
            </a:r>
          </a:p>
          <a:p>
            <a:pPr marL="0" indent="0">
              <a:buNone/>
            </a:pPr>
            <a:r>
              <a:rPr lang="fr-FR" altLang="en-US">
                <a:highlight>
                  <a:srgbClr val="00FFFF"/>
                </a:highlight>
              </a:rPr>
              <a:t>- </a:t>
            </a:r>
            <a:r>
              <a:rPr lang="en-US" altLang="en-US">
                <a:highlight>
                  <a:srgbClr val="00FFFF"/>
                </a:highlight>
              </a:rPr>
              <a:t>Ventes (détail par grandes familles)</a:t>
            </a:r>
          </a:p>
          <a:p>
            <a:pPr marL="0" indent="0">
              <a:buNone/>
            </a:pPr>
            <a:r>
              <a:rPr lang="fr-FR" altLang="en-US">
                <a:highlight>
                  <a:srgbClr val="00FFFF"/>
                </a:highlight>
              </a:rPr>
              <a:t>- </a:t>
            </a:r>
            <a:r>
              <a:rPr lang="en-US" altLang="en-US">
                <a:highlight>
                  <a:srgbClr val="00FFFF"/>
                </a:highlight>
              </a:rPr>
              <a:t>Prestation de service / ateliers</a:t>
            </a:r>
          </a:p>
          <a:p>
            <a:pPr marL="0" indent="0">
              <a:buNone/>
            </a:pPr>
            <a:r>
              <a:rPr lang="fr-FR" altLang="en-US">
                <a:highlight>
                  <a:srgbClr val="00FFFF"/>
                </a:highlight>
              </a:rPr>
              <a:t>- </a:t>
            </a:r>
            <a:r>
              <a:rPr lang="en-US" altLang="en-US">
                <a:highlight>
                  <a:srgbClr val="00FFFF"/>
                </a:highlight>
              </a:rPr>
              <a:t>Autres : privatisations, partenariats, vente en ligne éventuelle.</a:t>
            </a:r>
          </a:p>
          <a:p>
            <a:pPr marL="0" indent="0">
              <a:buNone/>
            </a:pPr>
            <a:r>
              <a:rPr lang="en-US" altLang="en-US">
                <a:highlight>
                  <a:srgbClr val="00FFFF"/>
                </a:highlight>
              </a:rPr>
              <a:t>Structure de coûts : loyer, charges, salaires, achats, com, assurances, logiciels, etc.</a:t>
            </a:r>
          </a:p>
          <a:p>
            <a:pPr marL="0" indent="0">
              <a:buNone/>
            </a:pPr>
            <a:r>
              <a:rPr lang="en-US" altLang="en-US">
                <a:highlight>
                  <a:srgbClr val="00FFFF"/>
                </a:highlight>
              </a:rPr>
              <a:t>Logique de rentabilité : marge moyenne, point mort, leviers pour améliorer la marge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a:highlight>
                  <a:srgbClr val="00FFFF"/>
                </a:highlight>
              </a:rPr>
              <a:t>Hypothèses clés de CA</a:t>
            </a:r>
          </a:p>
          <a:p>
            <a:pPr marL="0" indent="0">
              <a:buNone/>
            </a:pPr>
            <a:r>
              <a:rPr lang="en-US" altLang="en-US">
                <a:highlight>
                  <a:srgbClr val="00FFFF"/>
                </a:highlight>
              </a:rPr>
              <a:t>Hypothèses opérationnelles :Nombre de clients / jour (par scénario prudent, médian, dynamique).</a:t>
            </a:r>
          </a:p>
          <a:p>
            <a:pPr marL="0" indent="0">
              <a:buNone/>
            </a:pPr>
            <a:r>
              <a:rPr lang="en-US" altLang="en-US">
                <a:highlight>
                  <a:srgbClr val="00FFFF"/>
                </a:highlight>
              </a:rPr>
              <a:t>Ticket moyen.</a:t>
            </a:r>
          </a:p>
          <a:p>
            <a:pPr marL="0" indent="0">
              <a:buNone/>
            </a:pPr>
            <a:r>
              <a:rPr lang="en-US" altLang="en-US">
                <a:highlight>
                  <a:srgbClr val="00FFFF"/>
                </a:highlight>
              </a:rPr>
              <a:t>Jours d’ouverture / mois.</a:t>
            </a:r>
          </a:p>
          <a:p>
            <a:pPr marL="0" indent="0">
              <a:buNone/>
            </a:pPr>
            <a:r>
              <a:rPr lang="en-US" altLang="en-US">
                <a:highlight>
                  <a:srgbClr val="00FFFF"/>
                </a:highlight>
              </a:rPr>
              <a:t>Traduction en CA mensuel / annuel pour les 3 premières années.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altLang="en-US"/>
              <a:t>6 - </a:t>
            </a:r>
            <a:r>
              <a:rPr lang="en-US" altLang="en-US"/>
              <a:t>Plan d’investissement &amp; financemen</a:t>
            </a:r>
            <a:r>
              <a:rPr lang="fr-FR" altLang="en-US"/>
              <a:t>t</a:t>
            </a:r>
          </a:p>
        </p:txBody>
      </p:sp>
      <p:sp>
        <p:nvSpPr>
          <p:cNvPr id="3" name="Content Placeholder 2"/>
          <p:cNvSpPr>
            <a:spLocks noGrp="1"/>
          </p:cNvSpPr>
          <p:nvPr>
            <p:ph idx="1"/>
          </p:nvPr>
        </p:nvSpPr>
        <p:spPr/>
        <p:txBody>
          <a:bodyPr>
            <a:normAutofit fontScale="90000" lnSpcReduction="20000"/>
          </a:bodyPr>
          <a:lstStyle/>
          <a:p>
            <a:r>
              <a:rPr lang="en-US" altLang="en-US">
                <a:highlight>
                  <a:srgbClr val="00FFFF"/>
                </a:highlight>
              </a:rPr>
              <a:t>Budget d’investissement initial</a:t>
            </a:r>
          </a:p>
          <a:p>
            <a:pPr marL="0" indent="0">
              <a:buNone/>
            </a:pPr>
            <a:r>
              <a:rPr lang="en-US" altLang="en-US">
                <a:highlight>
                  <a:srgbClr val="00FFFF"/>
                </a:highlight>
              </a:rPr>
              <a:t>Travaux et aménagements.Matériel et équipements.Stock de départ.Frais de création (honoraires, dépôt de garantie, logiciels, CA initial, etc.).Besoin en fonds de roulement (trésorerie de départ).</a:t>
            </a:r>
          </a:p>
          <a:p>
            <a:pPr marL="0" indent="0">
              <a:buNone/>
            </a:pPr>
            <a:endParaRPr lang="en-US" altLang="en-US">
              <a:highlight>
                <a:srgbClr val="00FFFF"/>
              </a:highlight>
            </a:endParaRPr>
          </a:p>
          <a:p>
            <a:r>
              <a:rPr lang="en-US" altLang="en-US">
                <a:highlight>
                  <a:srgbClr val="00FFFF"/>
                </a:highlight>
              </a:rPr>
              <a:t>Plan de financement</a:t>
            </a:r>
          </a:p>
          <a:p>
            <a:pPr marL="0" indent="0">
              <a:buNone/>
            </a:pPr>
            <a:r>
              <a:rPr lang="en-US" altLang="en-US">
                <a:highlight>
                  <a:srgbClr val="00FFFF"/>
                </a:highlight>
              </a:rPr>
              <a:t>Besoins (total projet) = investissement + BFR.</a:t>
            </a:r>
          </a:p>
          <a:p>
            <a:pPr marL="0" indent="0">
              <a:buNone/>
            </a:pPr>
            <a:r>
              <a:rPr lang="en-US" altLang="en-US">
                <a:highlight>
                  <a:srgbClr val="00FFFF"/>
                </a:highlight>
              </a:rPr>
              <a:t>Ressources :Apport perso (en % du total).</a:t>
            </a:r>
          </a:p>
          <a:p>
            <a:pPr marL="0" indent="0">
              <a:buNone/>
            </a:pPr>
            <a:r>
              <a:rPr lang="en-US" altLang="en-US">
                <a:highlight>
                  <a:srgbClr val="00FFFF"/>
                </a:highlight>
              </a:rPr>
              <a:t>Aides/subventions éventuelles.</a:t>
            </a:r>
          </a:p>
          <a:p>
            <a:pPr marL="0" indent="0">
              <a:buNone/>
            </a:pPr>
            <a:r>
              <a:rPr lang="en-US" altLang="en-US">
                <a:highlight>
                  <a:srgbClr val="00FFFF"/>
                </a:highlight>
              </a:rPr>
              <a:t>Emprunt bancaire demandé (montant, durée, taux estimé).</a:t>
            </a:r>
          </a:p>
          <a:p>
            <a:pPr marL="0" indent="0">
              <a:buNone/>
            </a:pPr>
            <a:r>
              <a:rPr lang="en-US" altLang="en-US">
                <a:highlight>
                  <a:srgbClr val="00FFFF"/>
                </a:highlight>
              </a:rPr>
              <a:t>Schéma simple montrant l’équilibre besoins / ressources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ltLang="en-US"/>
              <a:t>7- </a:t>
            </a:r>
            <a:r>
              <a:rPr lang="en-US" altLang="en-US"/>
              <a:t>Prévisionnel financier (3 ans)</a:t>
            </a:r>
          </a:p>
        </p:txBody>
      </p:sp>
      <p:sp>
        <p:nvSpPr>
          <p:cNvPr id="3" name="Content Placeholder 2"/>
          <p:cNvSpPr>
            <a:spLocks noGrp="1"/>
          </p:cNvSpPr>
          <p:nvPr>
            <p:ph idx="1"/>
          </p:nvPr>
        </p:nvSpPr>
        <p:spPr/>
        <p:txBody>
          <a:bodyPr>
            <a:normAutofit lnSpcReduction="20000"/>
          </a:bodyPr>
          <a:lstStyle/>
          <a:p>
            <a:r>
              <a:rPr lang="en-US" altLang="en-US">
                <a:highlight>
                  <a:srgbClr val="00FFFF"/>
                </a:highlight>
              </a:rPr>
              <a:t>Compte de résultat prévisionnel (synthèse)</a:t>
            </a:r>
          </a:p>
          <a:p>
            <a:pPr marL="0" indent="0">
              <a:buNone/>
            </a:pPr>
            <a:r>
              <a:rPr lang="en-US" altLang="en-US">
                <a:highlight>
                  <a:srgbClr val="00FFFF"/>
                </a:highlight>
              </a:rPr>
              <a:t>CA, marge brute, charges d’exploitation principales, résultat net.Présentation année 1–2–3 (tableau simplifié).Souligner l’année d’atteinte du seuil de rentabilité et la progression de la rentabilité</a:t>
            </a:r>
          </a:p>
          <a:p>
            <a:pPr marL="0" indent="0">
              <a:buNone/>
            </a:pPr>
            <a:endParaRPr lang="en-US" altLang="en-US">
              <a:highlight>
                <a:srgbClr val="00FFFF"/>
              </a:highlight>
            </a:endParaRPr>
          </a:p>
          <a:p>
            <a:r>
              <a:rPr lang="en-US" altLang="en-US">
                <a:highlight>
                  <a:srgbClr val="00FFFF"/>
                </a:highlight>
              </a:rPr>
              <a:t>Trésorerie et capacité de remboursement</a:t>
            </a:r>
          </a:p>
          <a:p>
            <a:pPr marL="0" indent="0">
              <a:buNone/>
            </a:pPr>
            <a:r>
              <a:rPr lang="en-US" altLang="en-US">
                <a:highlight>
                  <a:srgbClr val="00FFFF"/>
                </a:highlight>
              </a:rPr>
              <a:t>Courbe ou tableau de trésorerie annuelle (solde de trésorerie année 1 à 3).Capacité d’autofinancement (CAF) vs annuités de prêt, pour montrer le ratio de couverture.Message clé : « le projet génère suffisamment de cash pour rembourser l’emprunt + absorber les imprévus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ltLang="en-US"/>
              <a:t>8- </a:t>
            </a:r>
            <a:r>
              <a:rPr lang="en-US" altLang="en-US"/>
              <a:t>Gestion des risques</a:t>
            </a:r>
          </a:p>
        </p:txBody>
      </p:sp>
      <p:sp>
        <p:nvSpPr>
          <p:cNvPr id="3" name="Content Placeholder 2"/>
          <p:cNvSpPr>
            <a:spLocks noGrp="1"/>
          </p:cNvSpPr>
          <p:nvPr>
            <p:ph idx="1"/>
          </p:nvPr>
        </p:nvSpPr>
        <p:spPr/>
        <p:txBody>
          <a:bodyPr>
            <a:normAutofit lnSpcReduction="10000"/>
          </a:bodyPr>
          <a:lstStyle/>
          <a:p>
            <a:r>
              <a:rPr lang="en-US" altLang="en-US">
                <a:highlight>
                  <a:srgbClr val="00FFFF"/>
                </a:highlight>
              </a:rPr>
              <a:t>Principaux risques identifiés</a:t>
            </a:r>
          </a:p>
          <a:p>
            <a:pPr marL="0" indent="0">
              <a:buNone/>
            </a:pPr>
            <a:r>
              <a:rPr lang="en-US" altLang="en-US">
                <a:highlight>
                  <a:srgbClr val="00FFFF"/>
                </a:highlight>
              </a:rPr>
              <a:t>Baisse de fréquentation / retard de montée en charge.Hausse de coûts (achats, énergie, loyer).Aléas personnels (maladie, immobilisation…).</a:t>
            </a:r>
          </a:p>
          <a:p>
            <a:pPr marL="0" indent="0">
              <a:buNone/>
            </a:pPr>
            <a:endParaRPr lang="en-US" altLang="en-US">
              <a:highlight>
                <a:srgbClr val="00FFFF"/>
              </a:highlight>
            </a:endParaRPr>
          </a:p>
          <a:p>
            <a:r>
              <a:rPr lang="en-US" altLang="en-US">
                <a:highlight>
                  <a:srgbClr val="00FFFF"/>
                </a:highlight>
              </a:rPr>
              <a:t>Plans de mitigation</a:t>
            </a:r>
          </a:p>
          <a:p>
            <a:pPr marL="0" indent="0">
              <a:buNone/>
            </a:pPr>
            <a:r>
              <a:rPr lang="en-US" altLang="en-US">
                <a:highlight>
                  <a:srgbClr val="00FFFF"/>
                </a:highlight>
              </a:rPr>
              <a:t>Mesures prévues :Scénarios prudents dans le prévisionnel (CA, charges).</a:t>
            </a:r>
          </a:p>
          <a:p>
            <a:pPr marL="0" indent="0">
              <a:buNone/>
            </a:pPr>
            <a:r>
              <a:rPr lang="en-US" altLang="en-US">
                <a:highlight>
                  <a:srgbClr val="00FFFF"/>
                </a:highlight>
              </a:rPr>
              <a:t>Flexibilité sur certaines charges (temps partiel, sous-traitance limitée).</a:t>
            </a:r>
          </a:p>
          <a:p>
            <a:pPr marL="0" indent="0">
              <a:buNone/>
            </a:pPr>
            <a:r>
              <a:rPr lang="en-US" altLang="en-US">
                <a:highlight>
                  <a:srgbClr val="00FFFF"/>
                </a:highlight>
              </a:rPr>
              <a:t>Trésorerie de sécurité / ligne de crédit.</a:t>
            </a:r>
          </a:p>
          <a:p>
            <a:pPr marL="0" indent="0">
              <a:buNone/>
            </a:pPr>
            <a:r>
              <a:rPr lang="en-US" altLang="en-US">
                <a:highlight>
                  <a:srgbClr val="00FFFF"/>
                </a:highlight>
              </a:rPr>
              <a:t>Solutions en cas d’indisponibilité (famille, associés, remplaçants).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ltLang="en-US"/>
              <a:t>9 - </a:t>
            </a:r>
            <a:r>
              <a:rPr lang="en-US" altLang="en-US"/>
              <a:t> Synthèse &amp; « demande » à la banque</a:t>
            </a:r>
          </a:p>
        </p:txBody>
      </p:sp>
      <p:sp>
        <p:nvSpPr>
          <p:cNvPr id="3" name="Content Placeholder 2"/>
          <p:cNvSpPr>
            <a:spLocks noGrp="1"/>
          </p:cNvSpPr>
          <p:nvPr>
            <p:ph idx="1"/>
          </p:nvPr>
        </p:nvSpPr>
        <p:spPr/>
        <p:txBody>
          <a:bodyPr>
            <a:normAutofit lnSpcReduction="20000"/>
          </a:bodyPr>
          <a:lstStyle/>
          <a:p>
            <a:r>
              <a:rPr lang="en-US" altLang="en-US">
                <a:highlight>
                  <a:srgbClr val="00FFFF"/>
                </a:highlight>
              </a:rPr>
              <a:t> Pourquoi votre projet est solide</a:t>
            </a:r>
          </a:p>
          <a:p>
            <a:pPr marL="0" indent="0">
              <a:buNone/>
            </a:pPr>
            <a:r>
              <a:rPr lang="en-US" altLang="en-US">
                <a:highlight>
                  <a:srgbClr val="00FFFF"/>
                </a:highlight>
              </a:rPr>
              <a:t>Rappel en 4–5 bullets :Concept clair et adapté au quartier.Étude de marché sérieuse et positionnement différenciant.Prévisionnel prudent et rentable à horizon 2–3 ans.Apport personnel significatif, engagement du porteur.Capacité de remboursement démontrée.</a:t>
            </a:r>
          </a:p>
          <a:p>
            <a:pPr marL="0" indent="0">
              <a:buNone/>
            </a:pPr>
            <a:endParaRPr lang="en-US" altLang="en-US">
              <a:highlight>
                <a:srgbClr val="00FFFF"/>
              </a:highlight>
            </a:endParaRPr>
          </a:p>
          <a:p>
            <a:r>
              <a:rPr lang="en-US" altLang="en-US">
                <a:highlight>
                  <a:srgbClr val="00FFFF"/>
                </a:highlight>
              </a:rPr>
              <a:t>Demande de financement</a:t>
            </a:r>
          </a:p>
          <a:p>
            <a:pPr marL="0" indent="0">
              <a:buNone/>
            </a:pPr>
            <a:r>
              <a:rPr lang="en-US" altLang="en-US">
                <a:highlight>
                  <a:srgbClr val="00FFFF"/>
                </a:highlight>
              </a:rPr>
              <a:t>Montant de prêt demandé, durée, type de prêt (pro, éventuellement PGE si encore d’actualité pour certains dispositifs).Utilisation précise des fonds (ex : X % travaux, Y % matériel, Z % trésorerie).Garanties possibles (cautions perso, BPI, nantissement, etc., selon votre cas)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2337</Words>
  <Application>Microsoft Office PowerPoint</Application>
  <PresentationFormat>Grand écran</PresentationFormat>
  <Paragraphs>112</Paragraphs>
  <Slides>16</Slides>
  <Notes>4</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16</vt:i4>
      </vt:variant>
    </vt:vector>
  </HeadingPairs>
  <TitlesOfParts>
    <vt:vector size="20" baseType="lpstr">
      <vt:lpstr>Arial</vt:lpstr>
      <vt:lpstr>Calibri</vt:lpstr>
      <vt:lpstr>Calibri Light</vt:lpstr>
      <vt:lpstr>Office Theme</vt:lpstr>
      <vt:lpstr>Maison Castel</vt:lpstr>
      <vt:lpstr>Résumé Executif</vt:lpstr>
      <vt:lpstr>Investissement immobilier</vt:lpstr>
      <vt:lpstr>Présentation PowerPoint</vt:lpstr>
      <vt:lpstr>1 - Porteur de projet &amp; équipe</vt:lpstr>
      <vt:lpstr> 2a - Marché &amp; opportunité</vt:lpstr>
      <vt:lpstr>2b- Concurrence &amp; positionnement</vt:lpstr>
      <vt:lpstr>2c- Analyse SWOT</vt:lpstr>
      <vt:lpstr>3- Concept &amp; offre</vt:lpstr>
      <vt:lpstr>4 - Stratégie commerciale &amp; marketing</vt:lpstr>
      <vt:lpstr>5 - Modèle économique</vt:lpstr>
      <vt:lpstr>Présentation PowerPoint</vt:lpstr>
      <vt:lpstr>6 - Plan d’investissement &amp; financement</vt:lpstr>
      <vt:lpstr>7- Prévisionnel financier (3 ans)</vt:lpstr>
      <vt:lpstr>8- Gestion des risques</vt:lpstr>
      <vt:lpstr>9 -  Synthèse &amp; « demande » à la banque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marc_</dc:creator>
  <cp:lastModifiedBy>Guillaume DESLANDES</cp:lastModifiedBy>
  <cp:revision>9</cp:revision>
  <dcterms:created xsi:type="dcterms:W3CDTF">2025-07-23T00:59:00Z</dcterms:created>
  <dcterms:modified xsi:type="dcterms:W3CDTF">2026-03-23T20:45:58Z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598C50F74838462088417E1087A6406F_11</vt:lpwstr>
  </property>
  <property fmtid="{D5CDD505-2E9C-101B-9397-08002B2CF9AE}" pid="3" name="KSOProductBuildVer">
    <vt:lpwstr>1033-12.2.0.23196</vt:lpwstr>
  </property>
</Properties>
</file>